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922f1c9908d4464" /><Relationship Type="http://schemas.openxmlformats.org/officeDocument/2006/relationships/extended-properties" Target="/docProps/app.xml" Id="R3b31830fa7864ed5" /><Relationship Type="http://schemas.openxmlformats.org/officeDocument/2006/relationships/officeDocument" Target="/ppt/presentation.xml" Id="R2418a5acf3ba4bab" /></Relationships>
</file>

<file path=ppt/presentation.xml><?xml version="1.0" encoding="utf-8"?>
<p:presentation xmlns:p="http://schemas.openxmlformats.org/presentationml/2006/main">
  <p:sldMasterIdLst>
    <p:sldMasterId xmlns:r="http://schemas.openxmlformats.org/officeDocument/2006/relationships" id="2147483648" r:id="Rf820ecf80081498f"/>
  </p:sldMasterIdLst>
  <p:notesMasterIdLst>
    <p:notesMasterId xmlns:r="http://schemas.openxmlformats.org/officeDocument/2006/relationships" r:id="Ree4cbb1f74fb44bc"/>
  </p:notesMasterIdLst>
  <p:sldIdLst>
    <p:sldId xmlns:r="http://schemas.openxmlformats.org/officeDocument/2006/relationships" id="256" r:id="R0d4ca16bb02847d7"/>
    <p:sldId xmlns:r="http://schemas.openxmlformats.org/officeDocument/2006/relationships" id="257" r:id="R7ae8fe927e694776"/>
    <p:sldId xmlns:r="http://schemas.openxmlformats.org/officeDocument/2006/relationships" id="258" r:id="Rd2a9ff0995944fbf"/>
    <p:sldId xmlns:r="http://schemas.openxmlformats.org/officeDocument/2006/relationships" id="259" r:id="Rcb808daacfc140d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e3d2bd36e844c84" /><Relationship Type="http://schemas.openxmlformats.org/officeDocument/2006/relationships/slideMaster" Target="/ppt/slideMasters/slideMaster1.xml" Id="Rf820ecf80081498f" /><Relationship Type="http://schemas.openxmlformats.org/officeDocument/2006/relationships/notesMaster" Target="/ppt/notesMasters/notesMaster1.xml" Id="Ree4cbb1f74fb44bc" /><Relationship Type="http://schemas.openxmlformats.org/officeDocument/2006/relationships/presProps" Target="/ppt/presProps.xml" Id="R43b703b368a842f4" /><Relationship Type="http://schemas.openxmlformats.org/officeDocument/2006/relationships/tableStyles" Target="/ppt/tableStyles.xml" Id="Rfd8d63df897847a9" /><Relationship Type="http://schemas.openxmlformats.org/officeDocument/2006/relationships/slide" Target="/ppt/slides/slide1.xml" Id="R0d4ca16bb02847d7" /><Relationship Type="http://schemas.openxmlformats.org/officeDocument/2006/relationships/slide" Target="/ppt/slides/slide2.xml" Id="R7ae8fe927e694776" /><Relationship Type="http://schemas.openxmlformats.org/officeDocument/2006/relationships/slide" Target="/ppt/slides/slide3.xml" Id="Rd2a9ff0995944fbf" /><Relationship Type="http://schemas.openxmlformats.org/officeDocument/2006/relationships/slide" Target="/ppt/slides/slide4.xml" Id="Rcb808daacfc140d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f4a62e4d97d444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03429a718ef41e2" /><Relationship Type="http://schemas.openxmlformats.org/officeDocument/2006/relationships/notesMaster" Target="/ppt/notesMasters/notesMaster1.xml" Id="R2b55c0b23bfd49e9" /></Relationships>
</file>

<file path=ppt/notesSlides/_rels/notesSlide2.xml.rels>&#65279;<?xml version="1.0" encoding="utf-8"?><Relationships xmlns="http://schemas.openxmlformats.org/package/2006/relationships"><Relationship Type="http://schemas.openxmlformats.org/officeDocument/2006/relationships/slide" Target="/ppt/slides/slide2.xml" Id="Rdca28a0ec69c4e80" /><Relationship Type="http://schemas.openxmlformats.org/officeDocument/2006/relationships/notesMaster" Target="/ppt/notesMasters/notesMaster1.xml" Id="R0058aff93cb94613" /></Relationships>
</file>

<file path=ppt/notesSlides/_rels/notesSlide3.xml.rels>&#65279;<?xml version="1.0" encoding="utf-8"?><Relationships xmlns="http://schemas.openxmlformats.org/package/2006/relationships"><Relationship Type="http://schemas.openxmlformats.org/officeDocument/2006/relationships/slide" Target="/ppt/slides/slide3.xml" Id="R1fd20d8a9dea4766" /><Relationship Type="http://schemas.openxmlformats.org/officeDocument/2006/relationships/notesMaster" Target="/ppt/notesMasters/notesMaster1.xml" Id="Rd5896a598ed945dc" /></Relationships>
</file>

<file path=ppt/notesSlides/_rels/notesSlide4.xml.rels>&#65279;<?xml version="1.0" encoding="utf-8"?><Relationships xmlns="http://schemas.openxmlformats.org/package/2006/relationships"><Relationship Type="http://schemas.openxmlformats.org/officeDocument/2006/relationships/slide" Target="/ppt/slides/slide4.xml" Id="Rdc7161d5f4f34231" /><Relationship Type="http://schemas.openxmlformats.org/officeDocument/2006/relationships/notesMaster" Target="/ppt/notesMasters/notesMaster1.xml" Id="R18bcb75628f8492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Mögliche Antwort: In beiden Situationen passieren in jeder Sekunde 5 Liter Wasser eine betrachtete Stelle. Die Wasserstromstärke ist also gleich, obwohl Ort und Weg des Wassers verschieden sind. Bildquelle: vom Nutzer bereitgestellte Abbildung.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Mögliche Antwort: Die grünen Markierungen zeigen jeweils eine gedachte feste Stelle. Dort wird betrachtet, wie viele Schülerinnen und Schüler oder Elektronen beziehungsweise wie viel Wasser in derselben Zeit vorbeikommen. Bildquelle: vom Nutzer bereitgestellte Tafelnotiz.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Lösung: Tür A: 12 Personen in 3 Sekunden, also 4 Personen pro Sekunde. Tür B: 10 Personen in 2 Sekunden, also 5 Personen pro Sekunde. An Tür B ist die Schülerstromstärke größer. Entscheidend ist die Anzahl pro gleicher Zeit, nicht die Gesamtzahl.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Mögliche Antwort: Eine Stromstärke ist größer, wenn in derselben Zeit mehr durch eine feste Stelle fließt. Bei der Schülerstromstärke sind es mehr Menschen, bei der Wasserstromstärke mehr Wasser und bei der elektrischen Stromstärke mehr elektrische Ladung. Im vereinfachten Elektronenmodell: mehr Elektronen pro gleicher Zeit.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93856c127e242e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2a4cde97ad44afb" /><Relationship Type="http://schemas.openxmlformats.org/officeDocument/2006/relationships/slideLayout" Target="/ppt/slideLayouts/slideLayout1.xml" Id="R55efa7c3f7b243f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5efa7c3f7b243f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d7242ef4c7d4f53" /><Relationship Type="http://schemas.openxmlformats.org/officeDocument/2006/relationships/image" Target="/ppt/media/image.png" Id="R057bf71fede14d66" /><Relationship Type="http://schemas.openxmlformats.org/officeDocument/2006/relationships/notesSlide" Target="/ppt/notesSlides/notesSlide1.xml" Id="R60b32bfb52e4429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03dcb38019e4297" /><Relationship Type="http://schemas.openxmlformats.org/officeDocument/2006/relationships/image" Target="/ppt/media/image2.png" Id="Rb005fe991a0e4a91" /><Relationship Type="http://schemas.openxmlformats.org/officeDocument/2006/relationships/notesSlide" Target="/ppt/notesSlides/notesSlide2.xml" Id="R43601eae218e454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272271cd6ca4c0e" /><Relationship Type="http://schemas.openxmlformats.org/officeDocument/2006/relationships/notesSlide" Target="/ppt/notesSlides/notesSlide3.xml" Id="Ra9cd7f96e9db471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c13aab7f02d4061" /><Relationship Type="http://schemas.openxmlformats.org/officeDocument/2006/relationships/notesSlide" Target="/ppt/notesSlides/notesSlide4.xml" Id="R4530350738344a5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8E49C2B-A9EF-4F65-99CA-57E141BCCAEB}"/>
              </a:ext>
            </a:extLst>
          </p:cNvPr>
          <p:cNvSpPr>
            <a:spLocks xmlns:a="http://schemas.openxmlformats.org/drawingml/2006/main" noGrp="1"/>
          </p:cNvSpPr>
          <p:nvPr/>
        </p:nvSpPr>
        <p:spPr>
          <a:xfrm xmlns:a="http://schemas.openxmlformats.org/drawingml/2006/main">
            <a:off x="666750" y="457200"/>
            <a:ext cx="1047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24D"/>
                </a:solidFill>
                <a:latin typeface="Arial"/>
                <a:ea typeface="Arial"/>
                <a:cs typeface="Arial"/>
              </a:defRPr>
            </a:pPr>
            <a:r>
              <a:rPr sz="3300" b="1">
                <a:solidFill>
                  <a:srgbClr val="17324D"/>
                </a:solidFill>
                <a:latin typeface="Arial"/>
                <a:ea typeface="Arial"/>
                <a:cs typeface="Arial"/>
              </a:rPr>
              <a:t>Wasserstromstärke</a:t>
            </a:r>
          </a:p>
        </p:txBody>
      </p:sp>
      <p:sp>
        <p:nvSpPr>
          <p:cNvPr id="2" name="">
            <a:extLst xmlns:a="http://schemas.openxmlformats.org/drawingml/2006/main">
              <a:ext uri="{FF2B5EF4-FFF2-40B4-BE49-F238E27FC236}">
                <a16:creationId xmlns:a16="http://schemas.microsoft.com/office/drawing/2014/main" id="{4FB20AA3-B13D-4440-A341-265ED10DF2AE}"/>
              </a:ext>
            </a:extLst>
          </p:cNvPr>
          <p:cNvSpPr>
            <a:spLocks xmlns:a="http://schemas.openxmlformats.org/drawingml/2006/main" noGrp="1"/>
          </p:cNvSpPr>
          <p:nvPr/>
        </p:nvSpPr>
        <p:spPr>
          <a:xfrm xmlns:a="http://schemas.openxmlformats.org/drawingml/2006/main">
            <a:off x="10858500" y="552450"/>
            <a:ext cx="85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4A6578"/>
                </a:solidFill>
                <a:latin typeface="Arial"/>
                <a:ea typeface="Arial"/>
                <a:cs typeface="Arial"/>
              </a:defRPr>
            </a:pPr>
            <a:r>
              <a:rPr sz="1500" b="0">
                <a:solidFill>
                  <a:srgbClr val="4A6578"/>
                </a:solidFill>
                <a:latin typeface="Arial"/>
                <a:ea typeface="Arial"/>
                <a:cs typeface="Arial"/>
              </a:rPr>
              <a:t>1 / 4</a:t>
            </a:r>
          </a:p>
        </p:txBody>
      </p:sp>
      <p:sp>
        <p:nvSpPr>
          <p:cNvPr id="3" name="">
            <a:extLst xmlns:a="http://schemas.openxmlformats.org/drawingml/2006/main">
              <a:ext uri="{FF2B5EF4-FFF2-40B4-BE49-F238E27FC236}">
                <a16:creationId xmlns:a16="http://schemas.microsoft.com/office/drawing/2014/main" id="{B5C44B1C-9EAD-4B21-8894-36285DDD3AA9}"/>
              </a:ext>
            </a:extLst>
          </p:cNvPr>
          <p:cNvSpPr>
            <a:spLocks xmlns:a="http://schemas.openxmlformats.org/drawingml/2006/main" noGrp="1"/>
          </p:cNvSpPr>
          <p:nvPr/>
        </p:nvSpPr>
        <p:spPr>
          <a:xfrm xmlns:a="http://schemas.openxmlformats.org/drawingml/2006/main">
            <a:off x="723900" y="1428750"/>
            <a:ext cx="10572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24D"/>
                </a:solidFill>
                <a:latin typeface="Arial"/>
                <a:ea typeface="Arial"/>
                <a:cs typeface="Arial"/>
              </a:defRPr>
            </a:pPr>
            <a:r>
              <a:rPr sz="2550" b="0">
                <a:solidFill>
                  <a:srgbClr val="17324D"/>
                </a:solidFill>
                <a:latin typeface="Arial"/>
                <a:ea typeface="Arial"/>
                <a:cs typeface="Arial"/>
              </a:rPr>
              <a:t>Im Abfluss und am Feuerwehrschlauch fließen jeweils 5 l in 1 s. Was ist gleich?</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057bf71fede14d66"/>
          <a:stretch xmlns:a="http://schemas.openxmlformats.org/drawingml/2006/main"/>
        </p:blipFill>
        <p:spPr>
          <a:xfrm xmlns:a="http://schemas.openxmlformats.org/drawingml/2006/main">
            <a:off x="835298" y="3048000"/>
            <a:ext cx="10521404" cy="2571750"/>
          </a:xfrm>
          <a:prstGeom xmlns:a="http://schemas.openxmlformats.org/drawingml/2006/main" prst="rect">
            <a:avLst/>
          </a:prstGeom>
        </p:spPr>
      </p:pic>
    </p:spTree>
    <p:extLst>
      <p:ext uri="{BB962C8B-B14F-4D97-AF65-F5344CB8AC3E}">
        <p14:creationId xmlns:p14="http://schemas.microsoft.com/office/powerpoint/2010/main" val="117166017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ECCCBFF-1C9F-469D-99AC-49E837F03DC5}"/>
              </a:ext>
            </a:extLst>
          </p:cNvPr>
          <p:cNvSpPr>
            <a:spLocks xmlns:a="http://schemas.openxmlformats.org/drawingml/2006/main" noGrp="1"/>
          </p:cNvSpPr>
          <p:nvPr/>
        </p:nvSpPr>
        <p:spPr>
          <a:xfrm xmlns:a="http://schemas.openxmlformats.org/drawingml/2006/main">
            <a:off x="666750" y="457200"/>
            <a:ext cx="1047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24D"/>
                </a:solidFill>
                <a:latin typeface="Arial"/>
                <a:ea typeface="Arial"/>
                <a:cs typeface="Arial"/>
              </a:defRPr>
            </a:pPr>
            <a:r>
              <a:rPr sz="3300" b="1">
                <a:solidFill>
                  <a:srgbClr val="17324D"/>
                </a:solidFill>
                <a:latin typeface="Arial"/>
                <a:ea typeface="Arial"/>
                <a:cs typeface="Arial"/>
              </a:rPr>
              <a:t>Stromstärke in drei Kontexten</a:t>
            </a:r>
          </a:p>
        </p:txBody>
      </p:sp>
      <p:sp>
        <p:nvSpPr>
          <p:cNvPr id="2" name="">
            <a:extLst xmlns:a="http://schemas.openxmlformats.org/drawingml/2006/main">
              <a:ext uri="{FF2B5EF4-FFF2-40B4-BE49-F238E27FC236}">
                <a16:creationId xmlns:a16="http://schemas.microsoft.com/office/drawing/2014/main" id="{6FE7BE2F-EC09-474E-A1D1-F0556FD56516}"/>
              </a:ext>
            </a:extLst>
          </p:cNvPr>
          <p:cNvSpPr>
            <a:spLocks xmlns:a="http://schemas.openxmlformats.org/drawingml/2006/main" noGrp="1"/>
          </p:cNvSpPr>
          <p:nvPr/>
        </p:nvSpPr>
        <p:spPr>
          <a:xfrm xmlns:a="http://schemas.openxmlformats.org/drawingml/2006/main">
            <a:off x="10858500" y="552450"/>
            <a:ext cx="85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4A6578"/>
                </a:solidFill>
                <a:latin typeface="Arial"/>
                <a:ea typeface="Arial"/>
                <a:cs typeface="Arial"/>
              </a:defRPr>
            </a:pPr>
            <a:r>
              <a:rPr sz="1500" b="0">
                <a:solidFill>
                  <a:srgbClr val="4A6578"/>
                </a:solidFill>
                <a:latin typeface="Arial"/>
                <a:ea typeface="Arial"/>
                <a:cs typeface="Arial"/>
              </a:rPr>
              <a:t>2 / 4</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005fe991a0e4a91"/>
          <a:stretch xmlns:a="http://schemas.openxmlformats.org/drawingml/2006/main"/>
        </p:blipFill>
        <p:spPr>
          <a:xfrm xmlns:a="http://schemas.openxmlformats.org/drawingml/2006/main">
            <a:off x="495854" y="1409700"/>
            <a:ext cx="5980593" cy="46291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FE236DA-BE18-479E-B70B-736142EBE2E3}"/>
              </a:ext>
            </a:extLst>
          </p:cNvPr>
          <p:cNvSpPr>
            <a:spLocks xmlns:a="http://schemas.openxmlformats.org/drawingml/2006/main" noGrp="1"/>
          </p:cNvSpPr>
          <p:nvPr/>
        </p:nvSpPr>
        <p:spPr>
          <a:xfrm xmlns:a="http://schemas.openxmlformats.org/drawingml/2006/main">
            <a:off x="7048500" y="2019300"/>
            <a:ext cx="4524375"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24D"/>
                </a:solidFill>
                <a:latin typeface="Arial"/>
                <a:ea typeface="Arial"/>
                <a:cs typeface="Arial"/>
              </a:defRPr>
            </a:pPr>
            <a:r>
              <a:rPr sz="2550" b="0">
                <a:solidFill>
                  <a:srgbClr val="17324D"/>
                </a:solidFill>
                <a:latin typeface="Arial"/>
                <a:ea typeface="Arial"/>
                <a:cs typeface="Arial"/>
              </a:rPr>
              <a:t>Was zeigen die markierten Stellen? Erkläre es für Menschen, Elektronen und Wasser.</a:t>
            </a:r>
          </a:p>
        </p:txBody>
      </p:sp>
    </p:spTree>
    <p:extLst>
      <p:ext uri="{BB962C8B-B14F-4D97-AF65-F5344CB8AC3E}">
        <p14:creationId xmlns:p14="http://schemas.microsoft.com/office/powerpoint/2010/main" val="199415230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9036119-62CF-45E7-81E0-4F3EBA6B674C}"/>
              </a:ext>
            </a:extLst>
          </p:cNvPr>
          <p:cNvSpPr>
            <a:spLocks xmlns:a="http://schemas.openxmlformats.org/drawingml/2006/main" noGrp="1"/>
          </p:cNvSpPr>
          <p:nvPr/>
        </p:nvSpPr>
        <p:spPr>
          <a:xfrm xmlns:a="http://schemas.openxmlformats.org/drawingml/2006/main">
            <a:off x="666750" y="457200"/>
            <a:ext cx="1047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24D"/>
                </a:solidFill>
                <a:latin typeface="Arial"/>
                <a:ea typeface="Arial"/>
                <a:cs typeface="Arial"/>
              </a:defRPr>
            </a:pPr>
            <a:r>
              <a:rPr sz="3300" b="1">
                <a:solidFill>
                  <a:srgbClr val="17324D"/>
                </a:solidFill>
                <a:latin typeface="Arial"/>
                <a:ea typeface="Arial"/>
                <a:cs typeface="Arial"/>
              </a:rPr>
              <a:t>Schülerstromstärke</a:t>
            </a:r>
          </a:p>
        </p:txBody>
      </p:sp>
      <p:sp>
        <p:nvSpPr>
          <p:cNvPr id="2" name="">
            <a:extLst xmlns:a="http://schemas.openxmlformats.org/drawingml/2006/main">
              <a:ext uri="{FF2B5EF4-FFF2-40B4-BE49-F238E27FC236}">
                <a16:creationId xmlns:a16="http://schemas.microsoft.com/office/drawing/2014/main" id="{C37BBA63-D7F8-446A-B390-C540C9DDA8AD}"/>
              </a:ext>
            </a:extLst>
          </p:cNvPr>
          <p:cNvSpPr>
            <a:spLocks xmlns:a="http://schemas.openxmlformats.org/drawingml/2006/main" noGrp="1"/>
          </p:cNvSpPr>
          <p:nvPr/>
        </p:nvSpPr>
        <p:spPr>
          <a:xfrm xmlns:a="http://schemas.openxmlformats.org/drawingml/2006/main">
            <a:off x="10858500" y="552450"/>
            <a:ext cx="85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4A6578"/>
                </a:solidFill>
                <a:latin typeface="Arial"/>
                <a:ea typeface="Arial"/>
                <a:cs typeface="Arial"/>
              </a:defRPr>
            </a:pPr>
            <a:r>
              <a:rPr sz="1500" b="0">
                <a:solidFill>
                  <a:srgbClr val="4A6578"/>
                </a:solidFill>
                <a:latin typeface="Arial"/>
                <a:ea typeface="Arial"/>
                <a:cs typeface="Arial"/>
              </a:rPr>
              <a:t>3 / 4</a:t>
            </a:r>
          </a:p>
        </p:txBody>
      </p:sp>
      <p:sp>
        <p:nvSpPr>
          <p:cNvPr id="3" name="">
            <a:extLst xmlns:a="http://schemas.openxmlformats.org/drawingml/2006/main">
              <a:ext uri="{FF2B5EF4-FFF2-40B4-BE49-F238E27FC236}">
                <a16:creationId xmlns:a16="http://schemas.microsoft.com/office/drawing/2014/main" id="{283C3CDD-D30C-4890-9C57-429963C3F97B}"/>
              </a:ext>
            </a:extLst>
          </p:cNvPr>
          <p:cNvSpPr>
            <a:spLocks xmlns:a="http://schemas.openxmlformats.org/drawingml/2006/main" noGrp="1"/>
          </p:cNvSpPr>
          <p:nvPr/>
        </p:nvSpPr>
        <p:spPr>
          <a:xfrm xmlns:a="http://schemas.openxmlformats.org/drawingml/2006/main">
            <a:off x="723900" y="1504950"/>
            <a:ext cx="10620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17324D"/>
                </a:solidFill>
                <a:latin typeface="Arial"/>
                <a:ea typeface="Arial"/>
                <a:cs typeface="Arial"/>
              </a:defRPr>
            </a:pPr>
            <a:r>
              <a:rPr sz="2775" b="0">
                <a:solidFill>
                  <a:srgbClr val="17324D"/>
                </a:solidFill>
                <a:latin typeface="Arial"/>
                <a:ea typeface="Arial"/>
                <a:cs typeface="Arial"/>
              </a:rPr>
              <a:t>Wo ist die Schülerstromstärke größer? Begründe.</a:t>
            </a:r>
          </a:p>
        </p:txBody>
      </p:sp>
      <p:sp>
        <p:nvSpPr>
          <p:cNvPr id="4" name="">
            <a:extLst xmlns:a="http://schemas.openxmlformats.org/drawingml/2006/main">
              <a:ext uri="{FF2B5EF4-FFF2-40B4-BE49-F238E27FC236}">
                <a16:creationId xmlns:a16="http://schemas.microsoft.com/office/drawing/2014/main" id="{CF87CA78-338F-4509-ACA1-6644E4BBCB91}"/>
              </a:ext>
            </a:extLst>
          </p:cNvPr>
          <p:cNvSpPr>
            <a:spLocks xmlns:a="http://schemas.openxmlformats.org/drawingml/2006/main" noGrp="1"/>
          </p:cNvSpPr>
          <p:nvPr/>
        </p:nvSpPr>
        <p:spPr>
          <a:xfrm xmlns:a="http://schemas.openxmlformats.org/drawingml/2006/main">
            <a:off x="876300" y="3076575"/>
            <a:ext cx="1028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087E8B"/>
                </a:solidFill>
                <a:latin typeface="Arial"/>
                <a:ea typeface="Arial"/>
                <a:cs typeface="Arial"/>
              </a:defRPr>
            </a:pPr>
            <a:r>
              <a:rPr sz="3150" b="0">
                <a:solidFill>
                  <a:srgbClr val="087E8B"/>
                </a:solidFill>
                <a:latin typeface="Arial"/>
                <a:ea typeface="Arial"/>
                <a:cs typeface="Arial"/>
              </a:rPr>
              <a:t>Tür A: 12 Personen in 3 s</a:t>
            </a:r>
          </a:p>
        </p:txBody>
      </p:sp>
      <p:sp>
        <p:nvSpPr>
          <p:cNvPr id="5" name="">
            <a:extLst xmlns:a="http://schemas.openxmlformats.org/drawingml/2006/main">
              <a:ext uri="{FF2B5EF4-FFF2-40B4-BE49-F238E27FC236}">
                <a16:creationId xmlns:a16="http://schemas.microsoft.com/office/drawing/2014/main" id="{27E6AAF0-A36B-4EE7-955D-F1E0E2FD8F89}"/>
              </a:ext>
            </a:extLst>
          </p:cNvPr>
          <p:cNvSpPr>
            <a:spLocks xmlns:a="http://schemas.openxmlformats.org/drawingml/2006/main" noGrp="1"/>
          </p:cNvSpPr>
          <p:nvPr/>
        </p:nvSpPr>
        <p:spPr>
          <a:xfrm xmlns:a="http://schemas.openxmlformats.org/drawingml/2006/main">
            <a:off x="876300" y="4191000"/>
            <a:ext cx="1028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087E8B"/>
                </a:solidFill>
                <a:latin typeface="Arial"/>
                <a:ea typeface="Arial"/>
                <a:cs typeface="Arial"/>
              </a:defRPr>
            </a:pPr>
            <a:r>
              <a:rPr sz="3150" b="0">
                <a:solidFill>
                  <a:srgbClr val="087E8B"/>
                </a:solidFill>
                <a:latin typeface="Arial"/>
                <a:ea typeface="Arial"/>
                <a:cs typeface="Arial"/>
              </a:rPr>
              <a:t>Tür B: 10 Personen in 2 s</a:t>
            </a:r>
          </a:p>
        </p:txBody>
      </p:sp>
    </p:spTree>
    <p:extLst>
      <p:ext uri="{BB962C8B-B14F-4D97-AF65-F5344CB8AC3E}">
        <p14:creationId xmlns:p14="http://schemas.microsoft.com/office/powerpoint/2010/main" val="169984605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0F6408C-B7D3-46B7-84BA-3D12EB1059A4}"/>
              </a:ext>
            </a:extLst>
          </p:cNvPr>
          <p:cNvSpPr>
            <a:spLocks xmlns:a="http://schemas.openxmlformats.org/drawingml/2006/main" noGrp="1"/>
          </p:cNvSpPr>
          <p:nvPr/>
        </p:nvSpPr>
        <p:spPr>
          <a:xfrm xmlns:a="http://schemas.openxmlformats.org/drawingml/2006/main">
            <a:off x="666750" y="457200"/>
            <a:ext cx="1047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24D"/>
                </a:solidFill>
                <a:latin typeface="Arial"/>
                <a:ea typeface="Arial"/>
                <a:cs typeface="Arial"/>
              </a:defRPr>
            </a:pPr>
            <a:r>
              <a:rPr sz="3300" b="1">
                <a:solidFill>
                  <a:srgbClr val="17324D"/>
                </a:solidFill>
                <a:latin typeface="Arial"/>
                <a:ea typeface="Arial"/>
                <a:cs typeface="Arial"/>
              </a:rPr>
              <a:t>Die gemeinsame Idee</a:t>
            </a:r>
          </a:p>
        </p:txBody>
      </p:sp>
      <p:sp>
        <p:nvSpPr>
          <p:cNvPr id="2" name="">
            <a:extLst xmlns:a="http://schemas.openxmlformats.org/drawingml/2006/main">
              <a:ext uri="{FF2B5EF4-FFF2-40B4-BE49-F238E27FC236}">
                <a16:creationId xmlns:a16="http://schemas.microsoft.com/office/drawing/2014/main" id="{48FC959A-8D93-46CE-A84E-700BAE472673}"/>
              </a:ext>
            </a:extLst>
          </p:cNvPr>
          <p:cNvSpPr>
            <a:spLocks xmlns:a="http://schemas.openxmlformats.org/drawingml/2006/main" noGrp="1"/>
          </p:cNvSpPr>
          <p:nvPr/>
        </p:nvSpPr>
        <p:spPr>
          <a:xfrm xmlns:a="http://schemas.openxmlformats.org/drawingml/2006/main">
            <a:off x="10858500" y="552450"/>
            <a:ext cx="85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4A6578"/>
                </a:solidFill>
                <a:latin typeface="Arial"/>
                <a:ea typeface="Arial"/>
                <a:cs typeface="Arial"/>
              </a:defRPr>
            </a:pPr>
            <a:r>
              <a:rPr sz="1500" b="0">
                <a:solidFill>
                  <a:srgbClr val="4A6578"/>
                </a:solidFill>
                <a:latin typeface="Arial"/>
                <a:ea typeface="Arial"/>
                <a:cs typeface="Arial"/>
              </a:rPr>
              <a:t>4 / 4</a:t>
            </a:r>
          </a:p>
        </p:txBody>
      </p:sp>
      <p:sp>
        <p:nvSpPr>
          <p:cNvPr id="3" name="">
            <a:extLst xmlns:a="http://schemas.openxmlformats.org/drawingml/2006/main">
              <a:ext uri="{FF2B5EF4-FFF2-40B4-BE49-F238E27FC236}">
                <a16:creationId xmlns:a16="http://schemas.microsoft.com/office/drawing/2014/main" id="{E3DDD22D-43BD-4939-9FFA-BA7E2C867BD0}"/>
              </a:ext>
            </a:extLst>
          </p:cNvPr>
          <p:cNvSpPr>
            <a:spLocks xmlns:a="http://schemas.openxmlformats.org/drawingml/2006/main" noGrp="1"/>
          </p:cNvSpPr>
          <p:nvPr/>
        </p:nvSpPr>
        <p:spPr>
          <a:xfrm xmlns:a="http://schemas.openxmlformats.org/drawingml/2006/main">
            <a:off x="723900" y="157162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17324D"/>
                </a:solidFill>
                <a:latin typeface="Arial"/>
                <a:ea typeface="Arial"/>
                <a:cs typeface="Arial"/>
              </a:defRPr>
            </a:pPr>
            <a:r>
              <a:rPr sz="2775" b="0">
                <a:solidFill>
                  <a:srgbClr val="17324D"/>
                </a:solidFill>
                <a:latin typeface="Arial"/>
                <a:ea typeface="Arial"/>
                <a:cs typeface="Arial"/>
              </a:rPr>
              <a:t>Ergänze den Satz für alle drei Beispiele:</a:t>
            </a:r>
          </a:p>
        </p:txBody>
      </p:sp>
      <p:sp>
        <p:nvSpPr>
          <p:cNvPr id="4" name="">
            <a:extLst xmlns:a="http://schemas.openxmlformats.org/drawingml/2006/main">
              <a:ext uri="{FF2B5EF4-FFF2-40B4-BE49-F238E27FC236}">
                <a16:creationId xmlns:a16="http://schemas.microsoft.com/office/drawing/2014/main" id="{DFD0780C-811A-4BF3-872A-5243E3D7A3B9}"/>
              </a:ext>
            </a:extLst>
          </p:cNvPr>
          <p:cNvSpPr>
            <a:spLocks xmlns:a="http://schemas.openxmlformats.org/drawingml/2006/main" noGrp="1"/>
          </p:cNvSpPr>
          <p:nvPr/>
        </p:nvSpPr>
        <p:spPr>
          <a:xfrm xmlns:a="http://schemas.openxmlformats.org/drawingml/2006/main">
            <a:off x="723900" y="2971800"/>
            <a:ext cx="10572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087E8B"/>
                </a:solidFill>
                <a:latin typeface="Arial"/>
                <a:ea typeface="Arial"/>
                <a:cs typeface="Arial"/>
              </a:defRPr>
            </a:pPr>
            <a:r>
              <a:rPr sz="3225" b="0">
                <a:solidFill>
                  <a:srgbClr val="087E8B"/>
                </a:solidFill>
                <a:latin typeface="Arial"/>
                <a:ea typeface="Arial"/>
                <a:cs typeface="Arial"/>
              </a:rPr>
              <a:t>Eine Stromstärke ist größer, wenn in derselben Zeit ...</a:t>
            </a:r>
          </a:p>
        </p:txBody>
      </p:sp>
      <p:sp>
        <p:nvSpPr>
          <p:cNvPr id="5" name="">
            <a:extLst xmlns:a="http://schemas.openxmlformats.org/drawingml/2006/main">
              <a:ext uri="{FF2B5EF4-FFF2-40B4-BE49-F238E27FC236}">
                <a16:creationId xmlns:a16="http://schemas.microsoft.com/office/drawing/2014/main" id="{2930F1A4-C21A-4E59-963F-79DB6405C446}"/>
              </a:ext>
            </a:extLst>
          </p:cNvPr>
          <p:cNvSpPr>
            <a:spLocks xmlns:a="http://schemas.openxmlformats.org/drawingml/2006/main" noGrp="1"/>
          </p:cNvSpPr>
          <p:nvPr/>
        </p:nvSpPr>
        <p:spPr>
          <a:xfrm xmlns:a="http://schemas.openxmlformats.org/drawingml/2006/main">
            <a:off x="723900" y="47815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4A6578"/>
                </a:solidFill>
                <a:latin typeface="Arial"/>
                <a:ea typeface="Arial"/>
                <a:cs typeface="Arial"/>
              </a:defRPr>
            </a:pPr>
            <a:r>
              <a:rPr sz="2175" b="0">
                <a:solidFill>
                  <a:srgbClr val="4A6578"/>
                </a:solidFill>
                <a:latin typeface="Arial"/>
                <a:ea typeface="Arial"/>
                <a:cs typeface="Arial"/>
              </a:rPr>
              <a:t>Denke an Schülerinnen und Schüler, Elektronen und Wasser.</a:t>
            </a:r>
          </a:p>
        </p:txBody>
      </p:sp>
    </p:spTree>
    <p:extLst>
      <p:ext uri="{BB962C8B-B14F-4D97-AF65-F5344CB8AC3E}">
        <p14:creationId xmlns:p14="http://schemas.microsoft.com/office/powerpoint/2010/main" val="2959132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2026-10-07T12:32:35.0420000Z</dcterms:created>
  <dcterms:modified xsi:type="dcterms:W3CDTF">2026-10-07T12:32:35.0430000Z</dcterms:modified>
</coreProperties>
</file>