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489" r:id="rId2"/>
    <p:sldId id="490" r:id="rId3"/>
    <p:sldId id="491" r:id="rId4"/>
    <p:sldId id="492" r:id="rId5"/>
    <p:sldId id="493" r:id="rId6"/>
    <p:sldId id="494" r:id="rId7"/>
    <p:sldId id="495" r:id="rId8"/>
    <p:sldId id="568" r:id="rId9"/>
    <p:sldId id="496" r:id="rId10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606DA4C-161B-81DE-1EEB-4E85267AAA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7F9E508D-D695-4F03-0FC6-C68BD7B7F1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7C640CF-0FF7-6BD0-0599-F45FEDC5DA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8CAE6-5D1E-4C2C-AC78-34F0871B8166}" type="datetimeFigureOut">
              <a:rPr lang="de-DE" smtClean="0"/>
              <a:t>21.08.2026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40B568F-BD3B-4F5F-4DAD-7B2C7CCEFA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FE325E6-1161-1A02-7160-B506C7D2E4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38598B-2E39-4DCD-8E7E-D87887AEE8A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568638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A341C86-6260-4652-9984-07C65359CB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773313B-9EFA-5996-CCE2-91F3D750ED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396CB18-9A69-E89A-319B-0FE9D6D5AD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8CAE6-5D1E-4C2C-AC78-34F0871B8166}" type="datetimeFigureOut">
              <a:rPr lang="de-DE" smtClean="0"/>
              <a:t>21.08.2026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5BD2FAE-ADDE-2760-317F-5C9AE7CFEF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F181BD0-01AA-9051-D6CB-C80EA75A2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38598B-2E39-4DCD-8E7E-D87887AEE8A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766894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EE6B18B-EFE3-D1C4-98D3-898FA05882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65BD18E-1468-FF18-09F1-FEDCAEDC76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410D53F-AA69-73D1-916C-68B81579DD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8CAE6-5D1E-4C2C-AC78-34F0871B8166}" type="datetimeFigureOut">
              <a:rPr lang="de-DE" smtClean="0"/>
              <a:t>21.08.2026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9DBD16A-8355-CC1A-88F1-2DBFE4444D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AEE6BEF-2813-5A5B-B63A-B3226B903E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38598B-2E39-4DCD-8E7E-D87887AEE8A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866586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DF96AF6-4155-E0FD-4ADD-EBB366DFE8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7BC7D4D-92DD-097A-45D2-EA529DC15A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82911018-7A25-4BE7-2732-37115B588C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C74768C-04E4-59F6-F1BF-7C540B038D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8CAE6-5D1E-4C2C-AC78-34F0871B8166}" type="datetimeFigureOut">
              <a:rPr lang="de-DE" smtClean="0"/>
              <a:t>21.08.2026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CF38240-5E4F-2C0A-825B-450FA2ED45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C9B679F2-5D21-E1AD-26B7-CAC629195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38598B-2E39-4DCD-8E7E-D87887AEE8A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104533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AAD022C-437E-E2E3-23CD-67CCBBEE49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5B8CC91-59F0-FA07-C6EF-BFA064DBC3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3E7AC3A1-09C6-2F33-85C2-DA58235901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13336641-B5AC-1AA5-7D82-440C2A7BBF3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B4A09576-69F7-30AA-A8B0-7820546FD5E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54FDF420-CEE0-34FC-C138-7B175978A6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8CAE6-5D1E-4C2C-AC78-34F0871B8166}" type="datetimeFigureOut">
              <a:rPr lang="de-DE" smtClean="0"/>
              <a:t>21.08.2026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09EB29A1-222E-B400-F31C-C0F0CB2EFC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FA264DEC-5CC7-41E3-953C-3DB2C32C0D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38598B-2E39-4DCD-8E7E-D87887AEE8A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762712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A62D765-0D8B-EB8C-4C1F-40C57B6556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83A1C6A3-FF2D-3AA7-8AAE-58798FC1B1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8CAE6-5D1E-4C2C-AC78-34F0871B8166}" type="datetimeFigureOut">
              <a:rPr lang="de-DE" smtClean="0"/>
              <a:t>21.08.2026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F2D9E0C-738D-4213-B396-B9E8AA7690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D1D78B85-63DF-968A-F6BA-617F37678F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38598B-2E39-4DCD-8E7E-D87887AEE8A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030942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13D00E0D-7BE2-1B5D-7AC5-DDE4572D42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8CAE6-5D1E-4C2C-AC78-34F0871B8166}" type="datetimeFigureOut">
              <a:rPr lang="de-DE" smtClean="0"/>
              <a:t>21.08.2026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DC3A5A5F-52EA-D143-E8A7-0911AC6105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7FD3405-41EC-C3C1-978E-301A566E09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38598B-2E39-4DCD-8E7E-D87887AEE8A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969448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273D492-65F2-E4FE-35C9-97CF00F2F1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88B6E4F-F915-EBAC-26AC-18C265C302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66FC03CB-E30D-2DED-B489-BFFD822911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CBC79498-D06B-F6C1-60BA-6AB17E87CB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8CAE6-5D1E-4C2C-AC78-34F0871B8166}" type="datetimeFigureOut">
              <a:rPr lang="de-DE" smtClean="0"/>
              <a:t>21.08.2026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B0D4E830-4013-EE0D-89EC-BFA9440124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1BC3E02-A0EC-2859-916F-0D21260EA5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38598B-2E39-4DCD-8E7E-D87887AEE8A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073380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089AE71-8818-5495-99F3-8E66F18B2A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4812EB61-B741-FF9E-8BF9-5087CB35F82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614B2B1B-E73B-EFEF-FB56-0D72C5602A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87A8A95C-C3DB-24A1-6BB6-6C1A3A1235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8CAE6-5D1E-4C2C-AC78-34F0871B8166}" type="datetimeFigureOut">
              <a:rPr lang="de-DE" smtClean="0"/>
              <a:t>21.08.2026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483F957-1A0B-341F-44AB-B41D77B071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CB0E1058-029A-FB79-FE51-6A00AF982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38598B-2E39-4DCD-8E7E-D87887AEE8A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877825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FEA672A-8B8A-39E6-7E72-384EE92578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1C3BBFB7-9C27-5CB3-30A2-52B2DD5E33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BCF71C4-2C69-E81D-DF0D-83180ECF38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8CAE6-5D1E-4C2C-AC78-34F0871B8166}" type="datetimeFigureOut">
              <a:rPr lang="de-DE" smtClean="0"/>
              <a:t>21.08.2026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5E6521B-27D1-3D8A-E776-2F399E0682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545BFA1-0760-331B-02FE-C8FF3F9B8A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38598B-2E39-4DCD-8E7E-D87887AEE8A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568551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7A9E1C07-83B7-3F4E-C2D8-EDFAC75D247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B00EEF38-D381-7117-6BB8-D2A70D1BC5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DE27A51-2B26-765F-DC10-4B9A6E83B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8CAE6-5D1E-4C2C-AC78-34F0871B8166}" type="datetimeFigureOut">
              <a:rPr lang="de-DE" smtClean="0"/>
              <a:t>21.08.2026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CDD9BFC-D807-E882-F54E-566D5E0D6C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1178946-0103-521F-2CE3-50FD55885D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38598B-2E39-4DCD-8E7E-D87887AEE8A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809073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B15B2118-A99E-822D-7020-3080F58DB0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DCB781E-0DF1-CE0B-EBFF-19F092259B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3F6F6F0-A4C3-028E-2513-98C0AEBED5B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728CAE6-5D1E-4C2C-AC78-34F0871B8166}" type="datetimeFigureOut">
              <a:rPr lang="de-DE" smtClean="0"/>
              <a:t>21.08.2026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15A8ACE-0FC7-0DE8-0DAB-77EC27E35F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3EAAB3B-3A83-EEB1-64F2-861965F18D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A38598B-2E39-4DCD-8E7E-D87887AEE8A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597064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3676B6D-460C-4B49-8BC1-D9BE043884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Fotos in der Datenbank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55C40C0-6F7A-405A-B2FA-84F5B5E1AB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8369595" cy="4351338"/>
          </a:xfrm>
        </p:spPr>
        <p:txBody>
          <a:bodyPr/>
          <a:lstStyle/>
          <a:p>
            <a:pPr marL="0" indent="0">
              <a:buNone/>
            </a:pPr>
            <a:r>
              <a:rPr lang="de-DE" dirty="0"/>
              <a:t>Eure Chefin schlägt vor, der Klasse </a:t>
            </a:r>
            <a:r>
              <a:rPr lang="de-DE" i="1" dirty="0" err="1"/>
              <a:t>users</a:t>
            </a:r>
            <a:r>
              <a:rPr lang="de-DE" i="1" dirty="0"/>
              <a:t> </a:t>
            </a:r>
            <a:r>
              <a:rPr lang="de-DE" dirty="0"/>
              <a:t>einfach zwei neue Attribute </a:t>
            </a:r>
            <a:r>
              <a:rPr lang="de-DE" b="1" i="1" dirty="0" err="1"/>
              <a:t>description</a:t>
            </a:r>
            <a:r>
              <a:rPr lang="de-DE" b="1" i="1" dirty="0"/>
              <a:t> </a:t>
            </a:r>
            <a:r>
              <a:rPr lang="de-DE" dirty="0"/>
              <a:t>und</a:t>
            </a:r>
            <a:r>
              <a:rPr lang="de-DE" b="1" i="1" dirty="0"/>
              <a:t> </a:t>
            </a:r>
            <a:r>
              <a:rPr lang="de-DE" b="1" i="1" dirty="0" err="1"/>
              <a:t>url</a:t>
            </a:r>
            <a:r>
              <a:rPr lang="de-DE" dirty="0"/>
              <a:t> zur Informationsverwaltung der Fotos hinzuzufügen. </a:t>
            </a:r>
          </a:p>
          <a:p>
            <a:pPr marL="0" indent="0">
              <a:buNone/>
            </a:pPr>
            <a:r>
              <a:rPr lang="de-DE" dirty="0"/>
              <a:t>Sie zeigt exemplarisch einen Ausschnitt der aktualisierten Datenbanktabelle.</a:t>
            </a:r>
          </a:p>
          <a:p>
            <a:pPr marL="0" indent="0">
              <a:buNone/>
            </a:pPr>
            <a:endParaRPr lang="de-DE" b="1" i="1" dirty="0"/>
          </a:p>
        </p:txBody>
      </p:sp>
      <p:pic>
        <p:nvPicPr>
          <p:cNvPr id="4" name="Picture 6">
            <a:extLst>
              <a:ext uri="{FF2B5EF4-FFF2-40B4-BE49-F238E27FC236}">
                <a16:creationId xmlns:a16="http://schemas.microsoft.com/office/drawing/2014/main" id="{A32698C7-1105-4E53-8684-52F375381E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367284" y="312363"/>
            <a:ext cx="2426788" cy="62332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732413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7BC41F2-BF8E-484F-81D4-671920D02E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Fotos in der Datenbank</a:t>
            </a:r>
          </a:p>
        </p:txBody>
      </p:sp>
      <p:pic>
        <p:nvPicPr>
          <p:cNvPr id="11" name="Inhaltsplatzhalter 10">
            <a:extLst>
              <a:ext uri="{FF2B5EF4-FFF2-40B4-BE49-F238E27FC236}">
                <a16:creationId xmlns:a16="http://schemas.microsoft.com/office/drawing/2014/main" id="{A9BC5B3E-6B5E-402D-9A59-85C10111DF2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690687"/>
            <a:ext cx="5668328" cy="3960495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D4FBC02A-DD1E-4136-8705-4E947ECBEF8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817"/>
          <a:stretch/>
        </p:blipFill>
        <p:spPr>
          <a:xfrm>
            <a:off x="6491110" y="1688175"/>
            <a:ext cx="4927532" cy="3960495"/>
          </a:xfrm>
          <a:prstGeom prst="rect">
            <a:avLst/>
          </a:prstGeom>
        </p:spPr>
      </p:pic>
      <p:pic>
        <p:nvPicPr>
          <p:cNvPr id="15" name="Inhaltsplatzhalter 10">
            <a:extLst>
              <a:ext uri="{FF2B5EF4-FFF2-40B4-BE49-F238E27FC236}">
                <a16:creationId xmlns:a16="http://schemas.microsoft.com/office/drawing/2014/main" id="{CF195AA7-A677-42D2-BDE8-5D262B74A40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1325" b="80123"/>
          <a:stretch/>
        </p:blipFill>
        <p:spPr>
          <a:xfrm>
            <a:off x="838200" y="2528711"/>
            <a:ext cx="5668328" cy="338667"/>
          </a:xfrm>
          <a:prstGeom prst="rect">
            <a:avLst/>
          </a:prstGeom>
        </p:spPr>
      </p:pic>
      <p:pic>
        <p:nvPicPr>
          <p:cNvPr id="16" name="Inhaltsplatzhalter 10">
            <a:extLst>
              <a:ext uri="{FF2B5EF4-FFF2-40B4-BE49-F238E27FC236}">
                <a16:creationId xmlns:a16="http://schemas.microsoft.com/office/drawing/2014/main" id="{4B094E71-C524-4468-8473-BF988A142B7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1325" b="80123"/>
          <a:stretch/>
        </p:blipFill>
        <p:spPr>
          <a:xfrm>
            <a:off x="838200" y="2913256"/>
            <a:ext cx="5668328" cy="338667"/>
          </a:xfrm>
          <a:prstGeom prst="rect">
            <a:avLst/>
          </a:prstGeom>
        </p:spPr>
      </p:pic>
      <p:pic>
        <p:nvPicPr>
          <p:cNvPr id="17" name="Inhaltsplatzhalter 10">
            <a:extLst>
              <a:ext uri="{FF2B5EF4-FFF2-40B4-BE49-F238E27FC236}">
                <a16:creationId xmlns:a16="http://schemas.microsoft.com/office/drawing/2014/main" id="{F2BC2245-05EE-4AD7-80DD-62E72E0BDCF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1325" b="80123"/>
          <a:stretch/>
        </p:blipFill>
        <p:spPr>
          <a:xfrm>
            <a:off x="830491" y="3298523"/>
            <a:ext cx="5668328" cy="338667"/>
          </a:xfrm>
          <a:prstGeom prst="rect">
            <a:avLst/>
          </a:prstGeom>
        </p:spPr>
      </p:pic>
      <p:pic>
        <p:nvPicPr>
          <p:cNvPr id="18" name="Inhaltsplatzhalter 10">
            <a:extLst>
              <a:ext uri="{FF2B5EF4-FFF2-40B4-BE49-F238E27FC236}">
                <a16:creationId xmlns:a16="http://schemas.microsoft.com/office/drawing/2014/main" id="{62C157CF-E0B7-4B09-92D6-31E1204689C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1325" b="80123"/>
          <a:stretch/>
        </p:blipFill>
        <p:spPr>
          <a:xfrm>
            <a:off x="830491" y="3691137"/>
            <a:ext cx="5668328" cy="338667"/>
          </a:xfrm>
          <a:prstGeom prst="rect">
            <a:avLst/>
          </a:prstGeom>
        </p:spPr>
      </p:pic>
      <p:pic>
        <p:nvPicPr>
          <p:cNvPr id="19" name="Inhaltsplatzhalter 10">
            <a:extLst>
              <a:ext uri="{FF2B5EF4-FFF2-40B4-BE49-F238E27FC236}">
                <a16:creationId xmlns:a16="http://schemas.microsoft.com/office/drawing/2014/main" id="{03773F44-38A3-4DBA-B686-CF024F75B0E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1325" b="80123"/>
          <a:stretch/>
        </p:blipFill>
        <p:spPr>
          <a:xfrm>
            <a:off x="838200" y="4083751"/>
            <a:ext cx="5668328" cy="338667"/>
          </a:xfrm>
          <a:prstGeom prst="rect">
            <a:avLst/>
          </a:prstGeom>
        </p:spPr>
      </p:pic>
      <p:pic>
        <p:nvPicPr>
          <p:cNvPr id="20" name="Inhaltsplatzhalter 10">
            <a:extLst>
              <a:ext uri="{FF2B5EF4-FFF2-40B4-BE49-F238E27FC236}">
                <a16:creationId xmlns:a16="http://schemas.microsoft.com/office/drawing/2014/main" id="{C14054C8-4FB5-4506-AB7B-1F1F6B55A90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69619" b="21829"/>
          <a:stretch/>
        </p:blipFill>
        <p:spPr>
          <a:xfrm>
            <a:off x="845909" y="4859758"/>
            <a:ext cx="5668328" cy="338667"/>
          </a:xfrm>
          <a:prstGeom prst="rect">
            <a:avLst/>
          </a:prstGeom>
        </p:spPr>
      </p:pic>
      <p:pic>
        <p:nvPicPr>
          <p:cNvPr id="21" name="Inhaltsplatzhalter 10">
            <a:extLst>
              <a:ext uri="{FF2B5EF4-FFF2-40B4-BE49-F238E27FC236}">
                <a16:creationId xmlns:a16="http://schemas.microsoft.com/office/drawing/2014/main" id="{AEDDA4BB-F165-4D71-BF0E-19EF78C9AF9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69619" b="21829"/>
          <a:stretch/>
        </p:blipFill>
        <p:spPr>
          <a:xfrm>
            <a:off x="845909" y="5239959"/>
            <a:ext cx="5668328" cy="338667"/>
          </a:xfrm>
          <a:prstGeom prst="rect">
            <a:avLst/>
          </a:prstGeom>
        </p:spPr>
      </p:pic>
      <p:pic>
        <p:nvPicPr>
          <p:cNvPr id="22" name="Grafik 21">
            <a:extLst>
              <a:ext uri="{FF2B5EF4-FFF2-40B4-BE49-F238E27FC236}">
                <a16:creationId xmlns:a16="http://schemas.microsoft.com/office/drawing/2014/main" id="{6DA3E722-78A3-454E-B3DB-5CE0537DA1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03473" y="4956950"/>
            <a:ext cx="1681067" cy="200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57633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C1C7EDB-61C6-4D97-B75A-053CADB8CC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Fotos in der Datenbank</a:t>
            </a:r>
          </a:p>
        </p:txBody>
      </p:sp>
      <p:sp>
        <p:nvSpPr>
          <p:cNvPr id="15" name="Inhaltsplatzhalter 14">
            <a:extLst>
              <a:ext uri="{FF2B5EF4-FFF2-40B4-BE49-F238E27FC236}">
                <a16:creationId xmlns:a16="http://schemas.microsoft.com/office/drawing/2014/main" id="{BD7F96AF-02A9-4117-9401-D14EAEA980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 anchor="b"/>
          <a:lstStyle/>
          <a:p>
            <a:pPr marL="0" indent="0">
              <a:buNone/>
            </a:pPr>
            <a:r>
              <a:rPr lang="de-DE" b="1" dirty="0"/>
              <a:t>Probleme?!</a:t>
            </a:r>
            <a:endParaRPr lang="de-DE" dirty="0"/>
          </a:p>
          <a:p>
            <a:r>
              <a:rPr lang="de-DE" dirty="0">
                <a:solidFill>
                  <a:schemeClr val="accent1">
                    <a:lumMod val="75000"/>
                  </a:schemeClr>
                </a:solidFill>
              </a:rPr>
              <a:t>Speicherplatzverschwendung</a:t>
            </a:r>
          </a:p>
          <a:p>
            <a:r>
              <a:rPr lang="de-DE" dirty="0">
                <a:solidFill>
                  <a:schemeClr val="accent3">
                    <a:lumMod val="75000"/>
                  </a:schemeClr>
                </a:solidFill>
              </a:rPr>
              <a:t>Fehleranfälligkeit</a:t>
            </a:r>
          </a:p>
          <a:p>
            <a:pPr marL="0" indent="0">
              <a:buNone/>
            </a:pPr>
            <a:r>
              <a:rPr lang="de-DE" dirty="0"/>
              <a:t>… aufgrund von </a:t>
            </a:r>
            <a:r>
              <a:rPr lang="de-DE" b="1" dirty="0">
                <a:solidFill>
                  <a:srgbClr val="BB4D4D"/>
                </a:solidFill>
              </a:rPr>
              <a:t>Redundanz</a:t>
            </a:r>
            <a:r>
              <a:rPr lang="de-DE" dirty="0"/>
              <a:t>.</a:t>
            </a:r>
          </a:p>
        </p:txBody>
      </p:sp>
      <p:pic>
        <p:nvPicPr>
          <p:cNvPr id="16" name="Inhaltsplatzhalter 13">
            <a:extLst>
              <a:ext uri="{FF2B5EF4-FFF2-40B4-BE49-F238E27FC236}">
                <a16:creationId xmlns:a16="http://schemas.microsoft.com/office/drawing/2014/main" id="{48682C0D-B25E-45FF-A065-490836651F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368152"/>
            <a:ext cx="10515600" cy="3935025"/>
          </a:xfrm>
          <a:prstGeom prst="rect">
            <a:avLst/>
          </a:prstGeom>
        </p:spPr>
      </p:pic>
      <p:sp>
        <p:nvSpPr>
          <p:cNvPr id="17" name="Rechteck 16">
            <a:extLst>
              <a:ext uri="{FF2B5EF4-FFF2-40B4-BE49-F238E27FC236}">
                <a16:creationId xmlns:a16="http://schemas.microsoft.com/office/drawing/2014/main" id="{E83CBAAC-B896-4202-8B95-21DA5E389ED1}"/>
              </a:ext>
            </a:extLst>
          </p:cNvPr>
          <p:cNvSpPr/>
          <p:nvPr/>
        </p:nvSpPr>
        <p:spPr>
          <a:xfrm>
            <a:off x="838200" y="797668"/>
            <a:ext cx="5406957" cy="350196"/>
          </a:xfrm>
          <a:prstGeom prst="rect">
            <a:avLst/>
          </a:prstGeom>
          <a:noFill/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BC60D6FC-D888-4976-A0B6-0ACC4D0BF2A8}"/>
              </a:ext>
            </a:extLst>
          </p:cNvPr>
          <p:cNvSpPr/>
          <p:nvPr/>
        </p:nvSpPr>
        <p:spPr>
          <a:xfrm>
            <a:off x="838199" y="1192635"/>
            <a:ext cx="5406957" cy="350196"/>
          </a:xfrm>
          <a:prstGeom prst="rect">
            <a:avLst/>
          </a:prstGeom>
          <a:noFill/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F1C8A3B2-38F5-42C7-A57B-8C6FEB7F858C}"/>
              </a:ext>
            </a:extLst>
          </p:cNvPr>
          <p:cNvSpPr/>
          <p:nvPr/>
        </p:nvSpPr>
        <p:spPr>
          <a:xfrm>
            <a:off x="838198" y="1579157"/>
            <a:ext cx="5406957" cy="350196"/>
          </a:xfrm>
          <a:prstGeom prst="rect">
            <a:avLst/>
          </a:prstGeom>
          <a:noFill/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0ECB71DB-E331-4137-92D4-2AE084D37859}"/>
              </a:ext>
            </a:extLst>
          </p:cNvPr>
          <p:cNvSpPr/>
          <p:nvPr/>
        </p:nvSpPr>
        <p:spPr>
          <a:xfrm>
            <a:off x="838197" y="1965679"/>
            <a:ext cx="5406957" cy="350196"/>
          </a:xfrm>
          <a:prstGeom prst="rect">
            <a:avLst/>
          </a:prstGeom>
          <a:noFill/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6D5AA140-0A50-4319-A998-0FFD81F2FDA3}"/>
              </a:ext>
            </a:extLst>
          </p:cNvPr>
          <p:cNvSpPr/>
          <p:nvPr/>
        </p:nvSpPr>
        <p:spPr>
          <a:xfrm>
            <a:off x="838196" y="2349636"/>
            <a:ext cx="5406957" cy="350196"/>
          </a:xfrm>
          <a:prstGeom prst="rect">
            <a:avLst/>
          </a:prstGeom>
          <a:noFill/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A5E5B42B-95B3-4A06-B5FD-08D0EA29FDDF}"/>
              </a:ext>
            </a:extLst>
          </p:cNvPr>
          <p:cNvSpPr/>
          <p:nvPr/>
        </p:nvSpPr>
        <p:spPr>
          <a:xfrm>
            <a:off x="838195" y="2738135"/>
            <a:ext cx="5406957" cy="350196"/>
          </a:xfrm>
          <a:prstGeom prst="rect">
            <a:avLst/>
          </a:prstGeom>
          <a:noFill/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8BD83D72-43CA-4159-8D21-AE1ABA14423E}"/>
              </a:ext>
            </a:extLst>
          </p:cNvPr>
          <p:cNvSpPr/>
          <p:nvPr/>
        </p:nvSpPr>
        <p:spPr>
          <a:xfrm>
            <a:off x="3753256" y="3126634"/>
            <a:ext cx="1772056" cy="350196"/>
          </a:xfrm>
          <a:prstGeom prst="rect">
            <a:avLst/>
          </a:prstGeom>
          <a:noFill/>
          <a:ln w="19050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0AD80CFB-A0AA-4655-9D29-557207485FCA}"/>
              </a:ext>
            </a:extLst>
          </p:cNvPr>
          <p:cNvSpPr/>
          <p:nvPr/>
        </p:nvSpPr>
        <p:spPr>
          <a:xfrm>
            <a:off x="3753256" y="3515133"/>
            <a:ext cx="1772056" cy="350196"/>
          </a:xfrm>
          <a:prstGeom prst="rect">
            <a:avLst/>
          </a:prstGeom>
          <a:noFill/>
          <a:ln w="19050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89797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uiExpand="1" build="p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Redundante Information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de-DE" dirty="0"/>
              <a:t>Wenn in einer Tabelle die gleiche Information an vielen Stellen eingetragen ist, nennt man dies </a:t>
            </a:r>
            <a:r>
              <a:rPr lang="de-DE" b="1" dirty="0">
                <a:solidFill>
                  <a:srgbClr val="BB4D4D"/>
                </a:solidFill>
              </a:rPr>
              <a:t>Redundanz</a:t>
            </a:r>
            <a:r>
              <a:rPr lang="de-DE" dirty="0"/>
              <a:t>.</a:t>
            </a:r>
          </a:p>
          <a:p>
            <a:pPr marL="0" indent="-57150">
              <a:buNone/>
            </a:pPr>
            <a:r>
              <a:rPr lang="de-DE" b="1" dirty="0"/>
              <a:t>Beispiel:</a:t>
            </a:r>
            <a:r>
              <a:rPr lang="de-DE" u="sng" dirty="0"/>
              <a:t> </a:t>
            </a:r>
            <a:br>
              <a:rPr lang="de-DE" dirty="0"/>
            </a:br>
            <a:r>
              <a:rPr lang="de-DE" dirty="0"/>
              <a:t>Lädt ein Nutzer mehrere Fotos hoch, wird bei jedem Foto wiederholt der Name angegeben.</a:t>
            </a:r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lang="de-DE" dirty="0"/>
              <a:t>Diese Redundanz kann zu </a:t>
            </a:r>
            <a:r>
              <a:rPr lang="de-DE" b="1" dirty="0">
                <a:solidFill>
                  <a:srgbClr val="BB4D4D"/>
                </a:solidFill>
              </a:rPr>
              <a:t>Inkonsistenzen</a:t>
            </a:r>
            <a:r>
              <a:rPr lang="de-DE" dirty="0"/>
              <a:t> (Unstimmigkeiten) führen.</a:t>
            </a:r>
          </a:p>
          <a:p>
            <a:pPr marL="0" indent="-57150">
              <a:buNone/>
            </a:pPr>
            <a:r>
              <a:rPr lang="de-DE" b="1" dirty="0"/>
              <a:t>Beispiel: </a:t>
            </a:r>
            <a:br>
              <a:rPr lang="de-DE" dirty="0"/>
            </a:br>
            <a:r>
              <a:rPr lang="de-DE" dirty="0"/>
              <a:t>Die E-Mail-Adresse ist bei einer Person falsch übernommen worden.</a:t>
            </a:r>
          </a:p>
          <a:p>
            <a:pPr marL="0" indent="0">
              <a:buNone/>
            </a:pP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5691951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de-DE" dirty="0"/>
              <a:t>Objektorientiertes Datenmodell</a:t>
            </a:r>
            <a:endParaRPr lang="de-DE" alt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de-DE" altLang="de-DE" b="1" dirty="0"/>
              <a:t>5. Datenbanken mit mehreren Tabellen</a:t>
            </a:r>
          </a:p>
          <a:p>
            <a:pPr marL="0" indent="0">
              <a:buNone/>
            </a:pPr>
            <a:r>
              <a:rPr lang="de-DE" altLang="de-DE" b="1" dirty="0"/>
              <a:t>5.1 Redundanz</a:t>
            </a:r>
          </a:p>
          <a:p>
            <a:pPr marL="0" indent="0">
              <a:buNone/>
            </a:pPr>
            <a:r>
              <a:rPr lang="de-DE" dirty="0"/>
              <a:t>Die Mehrfachspeicherung gleicher Information nennt man </a:t>
            </a:r>
            <a:r>
              <a:rPr lang="de-DE" b="1" dirty="0">
                <a:solidFill>
                  <a:srgbClr val="BB4D4D"/>
                </a:solidFill>
              </a:rPr>
              <a:t>Redundanz</a:t>
            </a:r>
            <a:r>
              <a:rPr lang="de-DE" dirty="0"/>
              <a:t>.</a:t>
            </a:r>
          </a:p>
          <a:p>
            <a:pPr marL="0" indent="0">
              <a:buNone/>
            </a:pPr>
            <a:r>
              <a:rPr lang="de-DE" dirty="0"/>
              <a:t>Dies kann zu </a:t>
            </a:r>
            <a:r>
              <a:rPr lang="de-DE" b="1" dirty="0">
                <a:solidFill>
                  <a:srgbClr val="BB4D4D"/>
                </a:solidFill>
              </a:rPr>
              <a:t>Inkonsistenzen</a:t>
            </a:r>
            <a:r>
              <a:rPr lang="de-DE" dirty="0"/>
              <a:t> führen und sollte daher vermieden werden.</a:t>
            </a:r>
          </a:p>
          <a:p>
            <a:pPr marL="0" indent="0">
              <a:buNone/>
            </a:pPr>
            <a:endParaRPr lang="de-DE" altLang="de-DE" dirty="0"/>
          </a:p>
        </p:txBody>
      </p:sp>
    </p:spTree>
    <p:extLst>
      <p:ext uri="{BB962C8B-B14F-4D97-AF65-F5344CB8AC3E}">
        <p14:creationId xmlns:p14="http://schemas.microsoft.com/office/powerpoint/2010/main" val="28512150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E61B8D9-CF5B-4ED4-A667-3FF8347ECF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Arbeitsauftrag – 5 min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E20C248-3A06-463C-9AB1-2CADF461DE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de-DE" dirty="0"/>
              <a:t>Aus eben genannten Gründen soll deine </a:t>
            </a:r>
            <a:r>
              <a:rPr lang="de-DE" dirty="0" err="1"/>
              <a:t>InstaHub</a:t>
            </a:r>
            <a:r>
              <a:rPr lang="de-DE" dirty="0"/>
              <a:t> Datenbank neu konzipiert werden.</a:t>
            </a:r>
          </a:p>
          <a:p>
            <a:pPr marL="0" indent="0">
              <a:buNone/>
            </a:pPr>
            <a:r>
              <a:rPr lang="de-DE" dirty="0"/>
              <a:t>Es ist geplant die Fotos in eine neue Datenbanktabelle einzutragen.</a:t>
            </a:r>
          </a:p>
          <a:p>
            <a:pPr marL="0" indent="0">
              <a:buNone/>
            </a:pPr>
            <a:r>
              <a:rPr lang="de-DE" dirty="0"/>
              <a:t>Dafür sollten neben der Beschreibung (</a:t>
            </a:r>
            <a:r>
              <a:rPr lang="de-DE" i="1" dirty="0" err="1"/>
              <a:t>description</a:t>
            </a:r>
            <a:r>
              <a:rPr lang="de-DE" dirty="0"/>
              <a:t>) und URL (</a:t>
            </a:r>
            <a:r>
              <a:rPr lang="de-DE" i="1" dirty="0" err="1"/>
              <a:t>url</a:t>
            </a:r>
            <a:r>
              <a:rPr lang="de-DE" dirty="0"/>
              <a:t>) jedes Fotos zusätzlich auch das Erstelldatum (</a:t>
            </a:r>
            <a:r>
              <a:rPr lang="de-DE" i="1" dirty="0" err="1"/>
              <a:t>created_at</a:t>
            </a:r>
            <a:r>
              <a:rPr lang="de-DE" dirty="0"/>
              <a:t>) sowie ein Aktualisierungsdatum (</a:t>
            </a:r>
            <a:r>
              <a:rPr lang="de-DE" i="1" dirty="0" err="1"/>
              <a:t>updated_at</a:t>
            </a:r>
            <a:r>
              <a:rPr lang="de-DE" dirty="0"/>
              <a:t>) gespeichert werden. </a:t>
            </a:r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lang="de-DE" b="1" dirty="0"/>
              <a:t>Erstelle die Klassenkarte der Tabelle </a:t>
            </a:r>
            <a:r>
              <a:rPr lang="de-DE" b="1" i="1" dirty="0" err="1"/>
              <a:t>photos</a:t>
            </a:r>
            <a:r>
              <a:rPr lang="de-DE" b="1" i="1" dirty="0"/>
              <a:t> </a:t>
            </a:r>
            <a:r>
              <a:rPr lang="de-DE" b="1" dirty="0"/>
              <a:t>auf deinem Arbeitsblatt neben der bereits vorhandenen Klassenkarte von </a:t>
            </a:r>
            <a:r>
              <a:rPr lang="de-DE" b="1" i="1" dirty="0" err="1"/>
              <a:t>users</a:t>
            </a:r>
            <a:r>
              <a:rPr lang="de-DE" b="1" dirty="0"/>
              <a:t>.</a:t>
            </a:r>
          </a:p>
          <a:p>
            <a:pPr marL="0" indent="0">
              <a:buNone/>
            </a:pP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2169279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AE710D4-B3E3-4AAA-A5D9-5E2F0B202D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Lösung</a:t>
            </a:r>
          </a:p>
        </p:txBody>
      </p:sp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459214A8-66FE-4A64-9814-5B55D6BCABE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8447" y="2051480"/>
            <a:ext cx="3015105" cy="3305902"/>
          </a:xfrm>
        </p:spPr>
      </p:pic>
      <p:sp>
        <p:nvSpPr>
          <p:cNvPr id="6" name="Rechteck 5">
            <a:extLst>
              <a:ext uri="{FF2B5EF4-FFF2-40B4-BE49-F238E27FC236}">
                <a16:creationId xmlns:a16="http://schemas.microsoft.com/office/drawing/2014/main" id="{D0A515B9-6C49-40BC-9A38-921E4631177B}"/>
              </a:ext>
            </a:extLst>
          </p:cNvPr>
          <p:cNvSpPr/>
          <p:nvPr/>
        </p:nvSpPr>
        <p:spPr>
          <a:xfrm>
            <a:off x="4630979" y="2870791"/>
            <a:ext cx="1270093" cy="41466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720611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C70D9A-7BAD-3E57-8059-69219A1137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A2FC3B0-8471-6585-39B0-1FD4E826F7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Wiederholung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CCD99CCA-65E9-42DD-CC10-BB43BB0FBD85}"/>
              </a:ext>
            </a:extLst>
          </p:cNvPr>
          <p:cNvSpPr/>
          <p:nvPr/>
        </p:nvSpPr>
        <p:spPr>
          <a:xfrm>
            <a:off x="4630979" y="2870791"/>
            <a:ext cx="1270093" cy="41466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8A44A65D-557F-94ED-30AF-2DD5A28851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690688"/>
            <a:ext cx="10515600" cy="435133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de-DE" dirty="0"/>
              <a:t>Beschreibe, was man unter Redundanz versteht.</a:t>
            </a:r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lang="de-DE" dirty="0"/>
              <a:t>Nenne mögliche Probleme, die durch Redundanz entstehen.</a:t>
            </a:r>
          </a:p>
          <a:p>
            <a:pPr>
              <a:buFont typeface="Wingdings" panose="05000000000000000000" pitchFamily="2" charset="2"/>
              <a:buChar char="à"/>
            </a:pPr>
            <a:r>
              <a:rPr lang="de-DE" dirty="0">
                <a:sym typeface="Wingdings" panose="05000000000000000000" pitchFamily="2" charset="2"/>
              </a:rPr>
              <a:t>Inkonsistenzen/Unstimmigkeiten, Speicherplatzverschwendung</a:t>
            </a:r>
          </a:p>
          <a:p>
            <a:pPr>
              <a:buFont typeface="Wingdings" panose="05000000000000000000" pitchFamily="2" charset="2"/>
              <a:buChar char="à"/>
            </a:pPr>
            <a:endParaRPr lang="de-DE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de-DE" dirty="0">
                <a:sym typeface="Wingdings" panose="05000000000000000000" pitchFamily="2" charset="2"/>
              </a:rPr>
              <a:t>Nenne eine Lösung für das Problem.</a:t>
            </a:r>
          </a:p>
          <a:p>
            <a:pPr marL="0" indent="0">
              <a:buNone/>
            </a:pPr>
            <a:endParaRPr lang="de-DE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de-DE" dirty="0">
                <a:sym typeface="Wingdings" panose="05000000000000000000" pitchFamily="2" charset="2"/>
              </a:rPr>
              <a:t>Nenne verschiedene Beziehungen aus der letzten Stunde.</a:t>
            </a:r>
          </a:p>
          <a:p>
            <a:pPr marL="0" indent="0">
              <a:buNone/>
            </a:pPr>
            <a:endParaRPr lang="de-DE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de-DE" dirty="0">
                <a:sym typeface="Wingdings" panose="05000000000000000000" pitchFamily="2" charset="2"/>
              </a:rPr>
              <a:t>Überlege zwei Beispiele für eine 1:n-Beziehung.</a:t>
            </a:r>
          </a:p>
          <a:p>
            <a:pPr marL="0" indent="0">
              <a:buNone/>
            </a:pP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9249024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4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098D864-93D9-48CE-8825-B3A2B76A8E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Beziehung der Klassen </a:t>
            </a:r>
            <a:r>
              <a:rPr lang="de-DE" i="1" dirty="0" err="1"/>
              <a:t>users</a:t>
            </a:r>
            <a:r>
              <a:rPr lang="de-DE" dirty="0"/>
              <a:t> und </a:t>
            </a:r>
            <a:r>
              <a:rPr lang="de-DE" i="1" dirty="0" err="1"/>
              <a:t>photos</a:t>
            </a:r>
            <a:endParaRPr lang="de-DE" i="1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7A5BF0B6-9D7D-4E29-8AFB-0F9D499A382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3581" y="1440244"/>
            <a:ext cx="6804838" cy="53207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hteck 3">
            <a:extLst>
              <a:ext uri="{FF2B5EF4-FFF2-40B4-BE49-F238E27FC236}">
                <a16:creationId xmlns:a16="http://schemas.microsoft.com/office/drawing/2014/main" id="{B3A5ED67-A6A4-453C-9A4B-0783C595037C}"/>
              </a:ext>
            </a:extLst>
          </p:cNvPr>
          <p:cNvSpPr/>
          <p:nvPr/>
        </p:nvSpPr>
        <p:spPr>
          <a:xfrm>
            <a:off x="4763385" y="1945758"/>
            <a:ext cx="2660400" cy="255181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C7CC78E5-9579-486E-A585-58FEC4528193}"/>
              </a:ext>
            </a:extLst>
          </p:cNvPr>
          <p:cNvSpPr txBox="1"/>
          <p:nvPr/>
        </p:nvSpPr>
        <p:spPr>
          <a:xfrm>
            <a:off x="7172038" y="4737199"/>
            <a:ext cx="4181762" cy="1569660"/>
          </a:xfrm>
          <a:prstGeom prst="rect">
            <a:avLst/>
          </a:prstGeom>
          <a:ln w="19050">
            <a:solidFill>
              <a:srgbClr val="BB4D4D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de-DE" sz="2400" dirty="0"/>
              <a:t>Beziehungen zwischen Klassen heißen </a:t>
            </a:r>
            <a:r>
              <a:rPr lang="de-DE" sz="2400" b="1" dirty="0">
                <a:solidFill>
                  <a:srgbClr val="BB4D4D"/>
                </a:solidFill>
              </a:rPr>
              <a:t>Assoziationen</a:t>
            </a:r>
            <a:r>
              <a:rPr lang="de-DE" sz="2400" dirty="0"/>
              <a:t>. Diese werden durch Verben angegeben.</a:t>
            </a:r>
          </a:p>
        </p:txBody>
      </p:sp>
    </p:spTree>
    <p:extLst>
      <p:ext uri="{BB962C8B-B14F-4D97-AF65-F5344CB8AC3E}">
        <p14:creationId xmlns:p14="http://schemas.microsoft.com/office/powerpoint/2010/main" val="38373857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</p:bldLst>
  </p:timing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287</Words>
  <Application>Microsoft Office PowerPoint</Application>
  <PresentationFormat>Breitbild</PresentationFormat>
  <Paragraphs>40</Paragraphs>
  <Slides>9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9</vt:i4>
      </vt:variant>
    </vt:vector>
  </HeadingPairs>
  <TitlesOfParts>
    <vt:vector size="14" baseType="lpstr">
      <vt:lpstr>Aptos</vt:lpstr>
      <vt:lpstr>Aptos Display</vt:lpstr>
      <vt:lpstr>Arial</vt:lpstr>
      <vt:lpstr>Wingdings</vt:lpstr>
      <vt:lpstr>Office</vt:lpstr>
      <vt:lpstr>Fotos in der Datenbank</vt:lpstr>
      <vt:lpstr>Fotos in der Datenbank</vt:lpstr>
      <vt:lpstr>Fotos in der Datenbank</vt:lpstr>
      <vt:lpstr>Redundante Information</vt:lpstr>
      <vt:lpstr>Objektorientiertes Datenmodell</vt:lpstr>
      <vt:lpstr>Arbeitsauftrag – 5 min</vt:lpstr>
      <vt:lpstr>Lösung</vt:lpstr>
      <vt:lpstr>Wiederholung</vt:lpstr>
      <vt:lpstr>Beziehung der Klassen users und photos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Florian Franke</dc:creator>
  <cp:lastModifiedBy>Florian Franke</cp:lastModifiedBy>
  <cp:revision>1</cp:revision>
  <dcterms:created xsi:type="dcterms:W3CDTF">2026-08-21T17:33:25Z</dcterms:created>
  <dcterms:modified xsi:type="dcterms:W3CDTF">2026-08-21T17:35:06Z</dcterms:modified>
</cp:coreProperties>
</file>