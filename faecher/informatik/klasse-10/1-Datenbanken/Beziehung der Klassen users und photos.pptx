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6" r:id="rId2"/>
    <p:sldId id="497" r:id="rId3"/>
    <p:sldId id="465" r:id="rId4"/>
    <p:sldId id="58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E9DA8-EA66-1A35-1769-3A5F5CCCA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5BAAC2-BD1D-8E2F-1D10-64E74493D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FF02E-4D29-12B6-C3C6-83C12840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8CA09A-1F5E-6614-0681-C82267B5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2181FC-373D-72E3-FE25-5550C529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93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EBBA7-94F5-8B80-EA6D-FFF5F3C8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31F9B-7E13-DE75-4512-770064D48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28320-999E-5D29-C862-388E60EF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816BC-DB9B-70C1-3A1A-B6175942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183BEE-48EA-3BBD-9944-686D090A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93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7E8FE-8A4D-80C5-0050-F4838187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988D8E-DBDC-CB48-C561-A3965B038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D077D7-BC93-F1A4-70EB-2E4D0675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F4B438-7023-84E0-FEF6-4B1E021E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ABD95-DD67-EDCE-556E-96B1F577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57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12AD3-BCFA-292B-427C-209B4EB0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D9873-1833-80A0-23EA-4FF2CEDAF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CC9F19-DCD2-AC91-73AD-2F4C3C135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CC5CCB-AE0A-004A-7F84-7DD6A1B0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14536B-49D8-0CAE-7199-0ACE0A91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F4F948-9C88-21C9-4AF6-6F47D711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33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6CC1A-ACFD-A9AD-61F7-A76C52E7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938B51-5392-1737-4938-2DCC3611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C36C18-561E-3409-DD19-EB1796255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062A4F-D729-FCA7-66BB-8135C7980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E00A45-F255-62B7-7FDD-F064FF155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6B3B1C-4F08-3665-2D76-80FFD593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2FC4B1D-8AFE-E212-FC6D-A79BA3A8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615376-715B-CBB6-114A-95EAFBE4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65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8EDB7-15EA-2029-0E14-729A9BFE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5EB9D0-E615-0343-FAB4-35D5F09A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5D0B19-AD61-85F1-2C3F-97793B6F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0DA969-5F52-517A-3A72-6A2206E4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7AC61D1-EC60-6F07-3744-C352FF5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2ADE43-0B19-D254-AE12-54E52C2E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EAC14C-45C2-A56A-98F8-EC2A3816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40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2C7149-C388-E862-7DB4-42667414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394721-9F72-B33E-CD4D-7C50F50FB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73907E-A904-686C-27E1-3016A4F3C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C40C88-E07F-73D0-5B77-1DFBBB18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A07264-7F13-3486-00D9-CA0C1A3F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ECCFC6-1B85-FCE0-EB71-624F888A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46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C83E8-4578-8F0C-5D12-0E0FB653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F9501F-D791-105D-3699-105BA6F66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69F659-3B1A-D21A-DADB-9202E0E3E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D6446D-35D7-3D60-0943-7AB949F3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ACCD30-4828-98B6-F56E-2B8C7080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489F31-A3A1-8170-F538-B6CCA64A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35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C0388-CDEF-F392-A289-AC30DF63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4E46AA-4EFD-CE2C-55A6-9069555CA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53FBAF-1430-5616-DD44-04E1D6CA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B3FA7-0EF3-20B3-81A5-B1E2217B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A6763-3F3E-8A93-76CF-17594A83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84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422DFE-277E-EBBB-7289-3AF91DD4E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725F21-39E9-33BC-74FA-35B81F3D5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EF8253-553B-5F3A-A55C-1DA41626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AB0BC3-68BB-4C50-DADF-B3FC339D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A9787D-084F-C224-4CA5-FEA4D2D0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66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511A8F-BCE6-AA58-B66E-6B290F43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35A4CF-234F-A229-E551-65A0ADE24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3661DE-8EE1-F721-04F0-72820FC4F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1A64C-1D57-4703-9A19-F8A137CEE083}" type="datetimeFigureOut">
              <a:rPr lang="de-DE" smtClean="0"/>
              <a:t>23.08.2026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B53E3E-CB8F-FA81-1CC7-C49FBB713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889B68-4D1E-5C2B-993D-8BCF236D8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F250A-3CAF-4DA7-9F97-2B32ADDD5F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05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8D864-93D9-48CE-8825-B3A2B76A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Beziehung der Klassen </a:t>
            </a:r>
            <a:r>
              <a:rPr lang="de-DE" i="1" dirty="0" err="1"/>
              <a:t>users</a:t>
            </a:r>
            <a:r>
              <a:rPr lang="de-DE" dirty="0"/>
              <a:t> und </a:t>
            </a:r>
            <a:r>
              <a:rPr lang="de-DE" i="1" dirty="0" err="1"/>
              <a:t>photos</a:t>
            </a:r>
            <a:endParaRPr lang="de-DE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5BF0B6-9D7D-4E29-8AFB-0F9D499A38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81" y="1440244"/>
            <a:ext cx="6804838" cy="532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3A5ED67-A6A4-453C-9A4B-0783C595037C}"/>
              </a:ext>
            </a:extLst>
          </p:cNvPr>
          <p:cNvSpPr/>
          <p:nvPr/>
        </p:nvSpPr>
        <p:spPr>
          <a:xfrm>
            <a:off x="4763385" y="1945758"/>
            <a:ext cx="2660400" cy="2551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7CC78E5-9579-486E-A585-58FEC4528193}"/>
              </a:ext>
            </a:extLst>
          </p:cNvPr>
          <p:cNvSpPr txBox="1"/>
          <p:nvPr/>
        </p:nvSpPr>
        <p:spPr>
          <a:xfrm>
            <a:off x="7172038" y="4737199"/>
            <a:ext cx="4181762" cy="1569660"/>
          </a:xfrm>
          <a:prstGeom prst="rect">
            <a:avLst/>
          </a:prstGeom>
          <a:ln w="19050">
            <a:solidFill>
              <a:srgbClr val="BB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dirty="0"/>
              <a:t>Beziehungen zwischen Klassen heißen </a:t>
            </a:r>
            <a:r>
              <a:rPr lang="de-DE" sz="2400" b="1" dirty="0">
                <a:solidFill>
                  <a:srgbClr val="BB4D4D"/>
                </a:solidFill>
              </a:rPr>
              <a:t>Assoziationen</a:t>
            </a:r>
            <a:r>
              <a:rPr lang="de-DE" sz="2400" dirty="0"/>
              <a:t>. Diese werden durch Verben angegeben.</a:t>
            </a:r>
          </a:p>
        </p:txBody>
      </p:sp>
    </p:spTree>
    <p:extLst>
      <p:ext uri="{BB962C8B-B14F-4D97-AF65-F5344CB8AC3E}">
        <p14:creationId xmlns:p14="http://schemas.microsoft.com/office/powerpoint/2010/main" val="383738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8D864-93D9-48CE-8825-B3A2B76A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Beziehung der Klassen </a:t>
            </a:r>
            <a:r>
              <a:rPr lang="de-DE" i="1" dirty="0" err="1"/>
              <a:t>users</a:t>
            </a:r>
            <a:r>
              <a:rPr lang="de-DE" dirty="0"/>
              <a:t> und </a:t>
            </a:r>
            <a:r>
              <a:rPr lang="de-DE" i="1" dirty="0" err="1"/>
              <a:t>photos</a:t>
            </a:r>
            <a:endParaRPr lang="de-DE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5BF0B6-9D7D-4E29-8AFB-0F9D499A38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81" y="1440244"/>
            <a:ext cx="6804838" cy="532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5B97C34-7013-4EDD-8F9E-21889176062F}"/>
              </a:ext>
            </a:extLst>
          </p:cNvPr>
          <p:cNvSpPr txBox="1"/>
          <p:nvPr/>
        </p:nvSpPr>
        <p:spPr>
          <a:xfrm>
            <a:off x="4752098" y="425426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solidFill>
                  <a:srgbClr val="BB4D4D"/>
                </a:solidFill>
              </a:rPr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7E9D241-03D8-45DE-9E9D-E629A96EF936}"/>
              </a:ext>
            </a:extLst>
          </p:cNvPr>
          <p:cNvSpPr txBox="1"/>
          <p:nvPr/>
        </p:nvSpPr>
        <p:spPr>
          <a:xfrm>
            <a:off x="7062907" y="267784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solidFill>
                  <a:srgbClr val="BB4D4D"/>
                </a:solidFill>
              </a:rPr>
              <a:t>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9E7654-A6D5-472F-86B9-CCE4968F4067}"/>
              </a:ext>
            </a:extLst>
          </p:cNvPr>
          <p:cNvSpPr txBox="1"/>
          <p:nvPr/>
        </p:nvSpPr>
        <p:spPr>
          <a:xfrm>
            <a:off x="7172038" y="4276186"/>
            <a:ext cx="4181762" cy="1938992"/>
          </a:xfrm>
          <a:prstGeom prst="rect">
            <a:avLst/>
          </a:prstGeom>
          <a:ln w="19050">
            <a:solidFill>
              <a:srgbClr val="BB4D4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dirty="0"/>
              <a:t>Mit Hilfe von </a:t>
            </a:r>
            <a:r>
              <a:rPr lang="de-DE" sz="2400" b="1" dirty="0" err="1">
                <a:solidFill>
                  <a:srgbClr val="BB4D4D"/>
                </a:solidFill>
              </a:rPr>
              <a:t>Kardinalitäten</a:t>
            </a:r>
            <a:r>
              <a:rPr lang="de-DE" sz="2400" dirty="0"/>
              <a:t> kann man Beziehungen genauer beschreiben. Man unterscheidet dabei </a:t>
            </a:r>
            <a:r>
              <a:rPr lang="de-DE" sz="2400" b="1" dirty="0">
                <a:solidFill>
                  <a:srgbClr val="BB4D4D"/>
                </a:solidFill>
              </a:rPr>
              <a:t>1:1-</a:t>
            </a:r>
            <a:r>
              <a:rPr lang="de-DE" sz="2400" dirty="0"/>
              <a:t>, </a:t>
            </a:r>
            <a:r>
              <a:rPr lang="de-DE" sz="2400" b="1" dirty="0">
                <a:solidFill>
                  <a:srgbClr val="BB4D4D"/>
                </a:solidFill>
              </a:rPr>
              <a:t>1:n-</a:t>
            </a:r>
            <a:r>
              <a:rPr lang="de-DE" sz="2400" b="1" dirty="0"/>
              <a:t> </a:t>
            </a:r>
            <a:r>
              <a:rPr lang="de-DE" sz="2400" dirty="0"/>
              <a:t>und </a:t>
            </a:r>
            <a:r>
              <a:rPr lang="de-DE" sz="2400" b="1" dirty="0">
                <a:solidFill>
                  <a:srgbClr val="BB4D4D"/>
                </a:solidFill>
              </a:rPr>
              <a:t>n:m-Beziehungen</a:t>
            </a:r>
            <a:r>
              <a:rPr lang="de-D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09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1:n-Beziehungen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Beispielsweise wird zur Realisierung der </a:t>
            </a:r>
            <a:r>
              <a:rPr lang="de-DE" b="1" dirty="0"/>
              <a:t>Beziehung zwischen </a:t>
            </a:r>
            <a:r>
              <a:rPr lang="de-DE" b="1" dirty="0" err="1"/>
              <a:t>user</a:t>
            </a:r>
            <a:r>
              <a:rPr lang="de-DE" b="1" dirty="0"/>
              <a:t> und </a:t>
            </a:r>
            <a:r>
              <a:rPr lang="de-DE" b="1" dirty="0" err="1"/>
              <a:t>phots</a:t>
            </a:r>
            <a:r>
              <a:rPr lang="de-DE" dirty="0"/>
              <a:t> in der Tabelle </a:t>
            </a:r>
            <a:r>
              <a:rPr lang="de-DE" b="1" dirty="0" err="1"/>
              <a:t>photos</a:t>
            </a:r>
            <a:r>
              <a:rPr lang="de-DE" dirty="0"/>
              <a:t> als weitere Spalte </a:t>
            </a:r>
            <a:r>
              <a:rPr lang="de-DE" b="1" dirty="0" err="1"/>
              <a:t>user_id</a:t>
            </a:r>
            <a:r>
              <a:rPr lang="de-DE" dirty="0"/>
              <a:t> eingefügt. </a:t>
            </a:r>
            <a:br>
              <a:rPr lang="de-DE" dirty="0"/>
            </a:br>
            <a:r>
              <a:rPr lang="de-DE" dirty="0"/>
              <a:t>In jedem Datensatz steht dort die ID des zugehörigen </a:t>
            </a:r>
            <a:r>
              <a:rPr lang="de-DE" dirty="0" err="1"/>
              <a:t>users</a:t>
            </a:r>
            <a:r>
              <a:rPr lang="de-DE" dirty="0"/>
              <a:t>.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838200" y="3690257"/>
          <a:ext cx="3816423" cy="22098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115129135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4026613697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306956855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de-DE" sz="2400" b="1" dirty="0" err="1"/>
                        <a:t>photo</a:t>
                      </a:r>
                      <a:endParaRPr lang="de-DE" sz="2400" b="1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8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user_id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description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90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#sup #nice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71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#Ei #früh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#papagei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09249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4261278-A165-D7C7-043A-240367E2CEEA}"/>
              </a:ext>
            </a:extLst>
          </p:cNvPr>
          <p:cNvGraphicFramePr>
            <a:graphicFrameLocks noGrp="1"/>
          </p:cNvGraphicFramePr>
          <p:nvPr/>
        </p:nvGraphicFramePr>
        <p:xfrm>
          <a:off x="6215742" y="3690257"/>
          <a:ext cx="4502562" cy="1940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2515">
                  <a:extLst>
                    <a:ext uri="{9D8B030D-6E8A-4147-A177-3AD203B41FA5}">
                      <a16:colId xmlns:a16="http://schemas.microsoft.com/office/drawing/2014/main" val="2012861360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372128079"/>
                    </a:ext>
                  </a:extLst>
                </a:gridCol>
                <a:gridCol w="2162133">
                  <a:extLst>
                    <a:ext uri="{9D8B030D-6E8A-4147-A177-3AD203B41FA5}">
                      <a16:colId xmlns:a16="http://schemas.microsoft.com/office/drawing/2014/main" val="138846792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de-DE" sz="2400" b="1" dirty="0" err="1"/>
                        <a:t>users</a:t>
                      </a:r>
                      <a:endParaRPr lang="de-DE" sz="2400" b="1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7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username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/>
                        <a:t>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08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zornigerfotograf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Noah Schneider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8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wanderwut_finn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Finn Becker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95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bergcoder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Liam Hoffmann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296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44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D2EA-A8C5-55C1-433D-8FF48D9B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7F254A-0F80-76AE-4AA0-348FF6E2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1:n-Beziehungen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735521-8D94-E4D8-F01C-14DFB3164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Beispielsweise wird zur Realisierung der </a:t>
            </a:r>
            <a:r>
              <a:rPr lang="de-DE" b="1" dirty="0"/>
              <a:t>Beziehung zwischen </a:t>
            </a:r>
            <a:r>
              <a:rPr lang="de-DE" b="1" dirty="0" err="1"/>
              <a:t>user</a:t>
            </a:r>
            <a:r>
              <a:rPr lang="de-DE" b="1" dirty="0"/>
              <a:t> und </a:t>
            </a:r>
            <a:r>
              <a:rPr lang="de-DE" b="1" dirty="0" err="1"/>
              <a:t>phots</a:t>
            </a:r>
            <a:r>
              <a:rPr lang="de-DE" dirty="0"/>
              <a:t> in der Tabelle </a:t>
            </a:r>
            <a:r>
              <a:rPr lang="de-DE" b="1" dirty="0" err="1"/>
              <a:t>photos</a:t>
            </a:r>
            <a:r>
              <a:rPr lang="de-DE" dirty="0"/>
              <a:t> als weitere Spalte </a:t>
            </a:r>
            <a:r>
              <a:rPr lang="de-DE" b="1" dirty="0" err="1"/>
              <a:t>user_id</a:t>
            </a:r>
            <a:r>
              <a:rPr lang="de-DE" dirty="0"/>
              <a:t> eingefügt. </a:t>
            </a:r>
            <a:br>
              <a:rPr lang="de-DE" dirty="0"/>
            </a:br>
            <a:r>
              <a:rPr lang="de-DE" dirty="0"/>
              <a:t>In jedem Datensatz steht dort die ID des zugehörigen </a:t>
            </a:r>
            <a:r>
              <a:rPr lang="de-DE" dirty="0" err="1"/>
              <a:t>users</a:t>
            </a:r>
            <a:r>
              <a:rPr lang="de-DE" dirty="0"/>
              <a:t>.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38CACB4-DC3F-02D5-1FEE-92ED28511839}"/>
              </a:ext>
            </a:extLst>
          </p:cNvPr>
          <p:cNvGraphicFramePr>
            <a:graphicFrameLocks noGrp="1"/>
          </p:cNvGraphicFramePr>
          <p:nvPr/>
        </p:nvGraphicFramePr>
        <p:xfrm>
          <a:off x="2495601" y="3429000"/>
          <a:ext cx="3816423" cy="1940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115129135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4026613697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306956855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de-DE" sz="2400" b="1" dirty="0" err="1"/>
                        <a:t>photo</a:t>
                      </a:r>
                      <a:endParaRPr lang="de-DE" sz="2400" b="1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8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user_id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b="1" dirty="0" err="1"/>
                        <a:t>description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90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#sup #nice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71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#Ei #früh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#papagei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09249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ACB2375D-783F-40D0-1F15-70ED0B395968}"/>
              </a:ext>
            </a:extLst>
          </p:cNvPr>
          <p:cNvGraphicFramePr>
            <a:graphicFrameLocks noGrp="1"/>
          </p:cNvGraphicFramePr>
          <p:nvPr/>
        </p:nvGraphicFramePr>
        <p:xfrm>
          <a:off x="7824193" y="3429000"/>
          <a:ext cx="1272141" cy="15697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3069568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400" b="1" dirty="0" err="1"/>
                        <a:t>user</a:t>
                      </a:r>
                      <a:endParaRPr lang="de-DE" sz="2400" b="1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 err="1"/>
                        <a:t>id</a:t>
                      </a:r>
                      <a:endParaRPr lang="de-DE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90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71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90405"/>
                  </a:ext>
                </a:extLst>
              </a:tr>
            </a:tbl>
          </a:graphicData>
        </a:graphic>
      </p:graphicFrame>
      <p:sp>
        <p:nvSpPr>
          <p:cNvPr id="6" name="Abgerundete rechteckige Legende 5">
            <a:extLst>
              <a:ext uri="{FF2B5EF4-FFF2-40B4-BE49-F238E27FC236}">
                <a16:creationId xmlns:a16="http://schemas.microsoft.com/office/drawing/2014/main" id="{12008275-740D-4DBE-6C74-C6A8C79D21FE}"/>
              </a:ext>
            </a:extLst>
          </p:cNvPr>
          <p:cNvSpPr/>
          <p:nvPr/>
        </p:nvSpPr>
        <p:spPr>
          <a:xfrm>
            <a:off x="3575721" y="5796960"/>
            <a:ext cx="2305905" cy="783704"/>
          </a:xfrm>
          <a:prstGeom prst="wedgeRoundRectCallout">
            <a:avLst>
              <a:gd name="adj1" fmla="val -32949"/>
              <a:gd name="adj2" fmla="val -96664"/>
              <a:gd name="adj3" fmla="val 16667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accent2">
                    <a:lumMod val="75000"/>
                  </a:schemeClr>
                </a:solidFill>
              </a:rPr>
              <a:t>Fremdschlüssel</a:t>
            </a:r>
            <a:endParaRPr lang="de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Abgerundete rechteckige Legende 6">
            <a:extLst>
              <a:ext uri="{FF2B5EF4-FFF2-40B4-BE49-F238E27FC236}">
                <a16:creationId xmlns:a16="http://schemas.microsoft.com/office/drawing/2014/main" id="{2DAFBD4A-A1FF-D9AE-4FEB-455A0A0FC6DF}"/>
              </a:ext>
            </a:extLst>
          </p:cNvPr>
          <p:cNvSpPr/>
          <p:nvPr/>
        </p:nvSpPr>
        <p:spPr>
          <a:xfrm>
            <a:off x="7943381" y="5583608"/>
            <a:ext cx="2305905" cy="783704"/>
          </a:xfrm>
          <a:prstGeom prst="wedgeRoundRectCallout">
            <a:avLst>
              <a:gd name="adj1" fmla="val -35811"/>
              <a:gd name="adj2" fmla="val -114601"/>
              <a:gd name="adj3" fmla="val 16667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accent2">
                    <a:lumMod val="75000"/>
                  </a:schemeClr>
                </a:solidFill>
              </a:rPr>
              <a:t>Primärschlüssel</a:t>
            </a:r>
            <a:endParaRPr lang="de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8664FA3-79E0-1B19-34A9-DDAED036D803}"/>
              </a:ext>
            </a:extLst>
          </p:cNvPr>
          <p:cNvSpPr/>
          <p:nvPr/>
        </p:nvSpPr>
        <p:spPr>
          <a:xfrm>
            <a:off x="3732028" y="3848986"/>
            <a:ext cx="1350335" cy="154427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77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Breitbild</PresentationFormat>
  <Paragraphs>55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Beziehung der Klassen users und photos</vt:lpstr>
      <vt:lpstr>Beziehung der Klassen users und photos</vt:lpstr>
      <vt:lpstr>1:n-Beziehungen</vt:lpstr>
      <vt:lpstr>1:n-Beziehungen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1</cp:revision>
  <dcterms:created xsi:type="dcterms:W3CDTF">2026-08-23T08:42:03Z</dcterms:created>
  <dcterms:modified xsi:type="dcterms:W3CDTF">2026-08-23T08:44:32Z</dcterms:modified>
</cp:coreProperties>
</file>